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IBM Plex Sans"/>
      <p:regular r:id="rId20"/>
      <p:bold r:id="rId21"/>
      <p:italic r:id="rId22"/>
      <p:boldItalic r:id="rId23"/>
    </p:embeddedFont>
    <p:embeddedFont>
      <p:font typeface="Sora SemiBold"/>
      <p:regular r:id="rId24"/>
      <p:bold r:id="rId25"/>
    </p:embeddedFont>
    <p:embeddedFont>
      <p:font typeface="IBM Plex Sans Medium"/>
      <p:regular r:id="rId26"/>
      <p:bold r:id="rId27"/>
      <p:italic r:id="rId28"/>
      <p:boldItalic r:id="rId29"/>
    </p:embeddedFont>
    <p:embeddedFont>
      <p:font typeface="Sora Light"/>
      <p:regular r:id="rId30"/>
      <p:bold r:id="rId31"/>
    </p:embeddedFont>
    <p:embeddedFont>
      <p:font typeface="Sora ExtraLight"/>
      <p:regular r:id="rId32"/>
      <p:bold r:id="rId33"/>
    </p:embeddedFont>
    <p:embeddedFont>
      <p:font typeface="Sora"/>
      <p:regular r:id="rId34"/>
      <p:bold r:id="rId35"/>
    </p:embeddedFont>
    <p:embeddedFont>
      <p:font typeface="Sora Medium"/>
      <p:regular r:id="rId36"/>
      <p:bold r:id="rId37"/>
    </p:embeddedFont>
    <p:embeddedFont>
      <p:font typeface="IBM Plex Sans SemiBol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italic.fntdata"/><Relationship Id="rId41" Type="http://schemas.openxmlformats.org/officeDocument/2006/relationships/font" Target="fonts/IBMPlexSans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Light-bold.fntdata"/><Relationship Id="rId30" Type="http://schemas.openxmlformats.org/officeDocument/2006/relationships/font" Target="fonts/SoraLight-regular.fntdata"/><Relationship Id="rId33" Type="http://schemas.openxmlformats.org/officeDocument/2006/relationships/font" Target="fonts/SoraExtraLight-bold.fntdata"/><Relationship Id="rId32" Type="http://schemas.openxmlformats.org/officeDocument/2006/relationships/font" Target="fonts/SoraExtraLight-regular.fntdata"/><Relationship Id="rId35" Type="http://schemas.openxmlformats.org/officeDocument/2006/relationships/font" Target="fonts/Sora-bold.fntdata"/><Relationship Id="rId34" Type="http://schemas.openxmlformats.org/officeDocument/2006/relationships/font" Target="fonts/Sora-regular.fntdata"/><Relationship Id="rId37" Type="http://schemas.openxmlformats.org/officeDocument/2006/relationships/font" Target="fonts/SoraMedium-bold.fntdata"/><Relationship Id="rId36" Type="http://schemas.openxmlformats.org/officeDocument/2006/relationships/font" Target="fonts/SoraMedium-regular.fntdata"/><Relationship Id="rId39" Type="http://schemas.openxmlformats.org/officeDocument/2006/relationships/font" Target="fonts/IBMPlexSansSemiBold-bold.fntdata"/><Relationship Id="rId38" Type="http://schemas.openxmlformats.org/officeDocument/2006/relationships/font" Target="fonts/IBMPlexSansSemiBold-regular.fntdata"/><Relationship Id="rId20" Type="http://schemas.openxmlformats.org/officeDocument/2006/relationships/font" Target="fonts/IBMPlexSans-regular.fntdata"/><Relationship Id="rId22" Type="http://schemas.openxmlformats.org/officeDocument/2006/relationships/font" Target="fonts/IBMPlexSans-italic.fntdata"/><Relationship Id="rId21" Type="http://schemas.openxmlformats.org/officeDocument/2006/relationships/font" Target="fonts/IBMPlexSans-bold.fntdata"/><Relationship Id="rId24" Type="http://schemas.openxmlformats.org/officeDocument/2006/relationships/font" Target="fonts/SoraSemiBold-regular.fntdata"/><Relationship Id="rId23" Type="http://schemas.openxmlformats.org/officeDocument/2006/relationships/font" Target="fonts/IBMPlexSans-boldItalic.fntdata"/><Relationship Id="rId26" Type="http://schemas.openxmlformats.org/officeDocument/2006/relationships/font" Target="fonts/IBMPlexSansMedium-regular.fntdata"/><Relationship Id="rId25" Type="http://schemas.openxmlformats.org/officeDocument/2006/relationships/font" Target="fonts/SoraSemiBold-bold.fntdata"/><Relationship Id="rId28" Type="http://schemas.openxmlformats.org/officeDocument/2006/relationships/font" Target="fonts/IBMPlexSansMedium-italic.fntdata"/><Relationship Id="rId27" Type="http://schemas.openxmlformats.org/officeDocument/2006/relationships/font" Target="fonts/IBMPlexSansMedium-bold.fntdata"/><Relationship Id="rId29" Type="http://schemas.openxmlformats.org/officeDocument/2006/relationships/font" Target="fonts/IBMPlexSans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893db14ba4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893db14ba4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893db14ba4_0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893db14ba4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893db14ba4_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3893db14ba4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Develop user stories, use cases, and UML diagrams to establish the system’s structure and behavior.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Conduct meetings with our client to refine the project’s vision and identify user needs.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Begin implementing the web interface, AI tutor interaction, and JSON-based quiz system.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893db14ba4_3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893db14ba4_3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893db14ba4_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3893db14ba4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893db14ba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3893db14ba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893db14ba4_3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3893db14ba4_3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893db14ba4_3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893db14ba4_3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893db14ba4_3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3893db14ba4_3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893db14ba4_3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3893db14ba4_3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893db14ba4_3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3893db14ba4_3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893db14ba4_3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3893db14ba4_3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893db14ba4_3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3893db14ba4_3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893db14ba4_3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893db14ba4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Team ZJL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10/5/2025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2"/>
                </a:solidFill>
              </a:rPr>
              <a:t>AI Tutor - Sprint 1</a:t>
            </a:r>
            <a:endParaRPr sz="4200"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228600" y="4506300"/>
            <a:ext cx="4922100" cy="7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ra"/>
                <a:ea typeface="Sora"/>
                <a:cs typeface="Sora"/>
                <a:sym typeface="Sora"/>
              </a:rPr>
              <a:t>Demo and Presentation Video</a:t>
            </a:r>
            <a:endParaRPr sz="1600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type="title"/>
          </p:nvPr>
        </p:nvSpPr>
        <p:spPr>
          <a:xfrm>
            <a:off x="96025" y="1206300"/>
            <a:ext cx="6507000" cy="7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896" name="Google Shape;896;p5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52"/>
          <p:cNvSpPr txBox="1"/>
          <p:nvPr>
            <p:ph idx="1" type="subTitle"/>
          </p:nvPr>
        </p:nvSpPr>
        <p:spPr>
          <a:xfrm>
            <a:off x="228600" y="1934400"/>
            <a:ext cx="3759600" cy="16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Zachary Mullin, Jesse Boakye, Luis Zarate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Project: AI Tutoring System for schools</a:t>
            </a:r>
            <a:endParaRPr/>
          </a:p>
        </p:txBody>
      </p:sp>
      <p:sp>
        <p:nvSpPr>
          <p:cNvPr id="898" name="Google Shape;898;p5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53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Objectives </a:t>
            </a:r>
            <a:endParaRPr/>
          </a:p>
        </p:txBody>
      </p:sp>
      <p:sp>
        <p:nvSpPr>
          <p:cNvPr id="904" name="Google Shape;904;p5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53"/>
          <p:cNvSpPr txBox="1"/>
          <p:nvPr>
            <p:ph idx="1" type="subTitle"/>
          </p:nvPr>
        </p:nvSpPr>
        <p:spPr>
          <a:xfrm>
            <a:off x="96025" y="2179025"/>
            <a:ext cx="5042100" cy="25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The goals for Sprint 1: 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Create Core Documentation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Collect Client Requirements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Identify Full-Stack Framework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Develop Initial Features</a:t>
            </a:r>
            <a:endParaRPr sz="1300"/>
          </a:p>
        </p:txBody>
      </p:sp>
      <p:sp>
        <p:nvSpPr>
          <p:cNvPr id="906" name="Google Shape;906;p5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54"/>
          <p:cNvSpPr txBox="1"/>
          <p:nvPr>
            <p:ph type="title"/>
          </p:nvPr>
        </p:nvSpPr>
        <p:spPr>
          <a:xfrm>
            <a:off x="96025" y="702675"/>
            <a:ext cx="6507000" cy="7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Gathering</a:t>
            </a:r>
            <a:endParaRPr/>
          </a:p>
        </p:txBody>
      </p:sp>
      <p:sp>
        <p:nvSpPr>
          <p:cNvPr id="912" name="Google Shape;912;p5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54"/>
          <p:cNvSpPr txBox="1"/>
          <p:nvPr>
            <p:ph idx="1" type="subTitle"/>
          </p:nvPr>
        </p:nvSpPr>
        <p:spPr>
          <a:xfrm>
            <a:off x="96025" y="1451770"/>
            <a:ext cx="5055000" cy="16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client gave us a lot of creative freedom with how we chose to design the project, but gave us two specific requirements: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AI tutor is an individualized system, with each student guiding their learning via their own personal tutor rather than a teacher guiding their learning.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system should run on a school district server, preferably with a local LLM to stay disconnected from the internet.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In addition, we discussed a couple other important requirements, including: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project must be secure and comply with federal law regarding privacy and security in education.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AI needs to have guard-rails to prevent it from going off-topic or from being able to discuss inappropriate topics with students.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55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 Of User Stories, Use Cases, and UML Diagrams</a:t>
            </a:r>
            <a:endParaRPr/>
          </a:p>
        </p:txBody>
      </p:sp>
      <p:sp>
        <p:nvSpPr>
          <p:cNvPr id="919" name="Google Shape;919;p5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55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I, as a teacher, should be alerted when a student is struggling even with the help of their AI tutor.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I, a school district admin, should be able to deploy a local LLM and the AI tutor program on my school district server.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As a school administrator, I want to review AI tutor usage reports so that I can evaluate adoption and effectiveness across different classrooms.</a:t>
            </a:r>
            <a:endParaRPr/>
          </a:p>
        </p:txBody>
      </p:sp>
      <p:sp>
        <p:nvSpPr>
          <p:cNvPr id="921" name="Google Shape;921;p5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Stories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56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 Of User Stories, Use Cases, and UML Diagrams</a:t>
            </a:r>
            <a:endParaRPr/>
          </a:p>
        </p:txBody>
      </p:sp>
      <p:sp>
        <p:nvSpPr>
          <p:cNvPr id="927" name="Google Shape;927;p5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5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Diagrams</a:t>
            </a:r>
            <a:endParaRPr/>
          </a:p>
        </p:txBody>
      </p:sp>
      <p:pic>
        <p:nvPicPr>
          <p:cNvPr id="929" name="Google Shape;92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9675" y="2390600"/>
            <a:ext cx="2655974" cy="2621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1653" y="163125"/>
            <a:ext cx="2683750" cy="474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57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Installation and Evaluation of Existing Solution</a:t>
            </a:r>
            <a:endParaRPr/>
          </a:p>
        </p:txBody>
      </p:sp>
      <p:sp>
        <p:nvSpPr>
          <p:cNvPr id="936" name="Google Shape;936;p57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57"/>
          <p:cNvSpPr txBox="1"/>
          <p:nvPr>
            <p:ph idx="1" type="subTitle"/>
          </p:nvPr>
        </p:nvSpPr>
        <p:spPr>
          <a:xfrm>
            <a:off x="144675" y="2470000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Current methods of AI tutoring: MagicSchool, Khan Academy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The problem: These are not individualistic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Teachers control the learning, and the students have to adhere to rigid curriculums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Students should get more say in how they use their tutors to learn</a:t>
            </a:r>
            <a:endParaRPr/>
          </a:p>
        </p:txBody>
      </p:sp>
      <p:sp>
        <p:nvSpPr>
          <p:cNvPr id="938" name="Google Shape;938;p5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5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Kanban Overview</a:t>
            </a:r>
            <a:endParaRPr/>
          </a:p>
        </p:txBody>
      </p:sp>
      <p:sp>
        <p:nvSpPr>
          <p:cNvPr id="944" name="Google Shape;944;p5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5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59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Demonstration </a:t>
            </a:r>
            <a:endParaRPr/>
          </a:p>
        </p:txBody>
      </p:sp>
      <p:sp>
        <p:nvSpPr>
          <p:cNvPr id="951" name="Google Shape;951;p59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59"/>
          <p:cNvSpPr txBox="1"/>
          <p:nvPr>
            <p:ph idx="1" type="subTitle"/>
          </p:nvPr>
        </p:nvSpPr>
        <p:spPr>
          <a:xfrm>
            <a:off x="96025" y="2262500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Implemented features: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Web based GUI for AI interaction.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Prompt safeguards ensuring safe responses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JSON and CSV based question and answer system for quizzes, to be fully implemented later.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5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6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Identification and Learning Process </a:t>
            </a:r>
            <a:endParaRPr/>
          </a:p>
        </p:txBody>
      </p:sp>
      <p:sp>
        <p:nvSpPr>
          <p:cNvPr id="959" name="Google Shape;959;p6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60"/>
          <p:cNvSpPr txBox="1"/>
          <p:nvPr>
            <p:ph idx="1" type="subTitle"/>
          </p:nvPr>
        </p:nvSpPr>
        <p:spPr>
          <a:xfrm>
            <a:off x="170125" y="3337800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Zack:</a:t>
            </a:r>
            <a:endParaRPr/>
          </a:p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Django templates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Gemini API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Prompt Safety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Jesse:</a:t>
            </a:r>
            <a:endParaRPr/>
          </a:p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TailwindCSS design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Environment configuration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Luis:</a:t>
            </a:r>
            <a:endParaRPr/>
          </a:p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JSON parsing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Environment configuration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61"/>
          <p:cNvSpPr txBox="1"/>
          <p:nvPr>
            <p:ph type="title"/>
          </p:nvPr>
        </p:nvSpPr>
        <p:spPr>
          <a:xfrm>
            <a:off x="77175" y="69555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Achievements and Challenges</a:t>
            </a:r>
            <a:endParaRPr/>
          </a:p>
        </p:txBody>
      </p:sp>
      <p:sp>
        <p:nvSpPr>
          <p:cNvPr id="966" name="Google Shape;966;p61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61"/>
          <p:cNvSpPr txBox="1"/>
          <p:nvPr>
            <p:ph idx="1" type="subTitle"/>
          </p:nvPr>
        </p:nvSpPr>
        <p:spPr>
          <a:xfrm>
            <a:off x="115025" y="1951337"/>
            <a:ext cx="3759600" cy="23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Sprint 1 Achievements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Gathered client requirements &amp; finalized documentation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Created user stories, use cases, and UML diagrams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Built early features: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Interactive AI tutor (Gemini API)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JSON quiz generation &amp; grading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Web-based UI prototype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Strengthened skills in prompt engineering </a:t>
            </a:r>
            <a:endParaRPr sz="1100"/>
          </a:p>
        </p:txBody>
      </p:sp>
      <p:sp>
        <p:nvSpPr>
          <p:cNvPr id="968" name="Google Shape;968;p6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61"/>
          <p:cNvSpPr txBox="1"/>
          <p:nvPr>
            <p:ph idx="1" type="subTitle"/>
          </p:nvPr>
        </p:nvSpPr>
        <p:spPr>
          <a:xfrm>
            <a:off x="3497550" y="2003600"/>
            <a:ext cx="3468900" cy="23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Challenges &amp; Solutions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Local LLM deployment — still in research; currently using Gemini API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Role-based access &amp; authentication — database schema planed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Accessibility features — continuing next sprint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Backend logging &amp; audit system — not yet integrated</a:t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62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Use of AI</a:t>
            </a:r>
            <a:endParaRPr/>
          </a:p>
        </p:txBody>
      </p:sp>
      <p:sp>
        <p:nvSpPr>
          <p:cNvPr id="975" name="Google Shape;975;p6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62"/>
          <p:cNvSpPr txBox="1"/>
          <p:nvPr>
            <p:ph idx="1" type="subTitle"/>
          </p:nvPr>
        </p:nvSpPr>
        <p:spPr>
          <a:xfrm>
            <a:off x="115025" y="2460400"/>
            <a:ext cx="4503900" cy="22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Used ChatGPT to specify our project requirements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Improved our functional and non-functional requirements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Used to Github Copilot and ChatGPT to assist in debugging the prototype</a:t>
            </a:r>
            <a:br>
              <a:rPr lang="en" sz="1200"/>
            </a:b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All final work and decisions are done by our team.</a:t>
            </a:r>
            <a:endParaRPr sz="12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77" name="Google Shape;977;p6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3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 and Sprint Retrospective </a:t>
            </a:r>
            <a:endParaRPr/>
          </a:p>
        </p:txBody>
      </p:sp>
      <p:sp>
        <p:nvSpPr>
          <p:cNvPr id="983" name="Google Shape;983;p6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63"/>
          <p:cNvSpPr txBox="1"/>
          <p:nvPr>
            <p:ph idx="1" type="subTitle"/>
          </p:nvPr>
        </p:nvSpPr>
        <p:spPr>
          <a:xfrm>
            <a:off x="115025" y="2582941"/>
            <a:ext cx="5050800" cy="22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Add teacher and admin dashboards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Implement student progress tracking, and intervention alerts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Develop role-based authentication and access control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Implement the landing page, and login/sign-up, </a:t>
            </a:r>
            <a:endParaRPr sz="1200"/>
          </a:p>
        </p:txBody>
      </p:sp>
      <p:sp>
        <p:nvSpPr>
          <p:cNvPr id="985" name="Google Shape;985;p6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64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991" name="Google Shape;991;p6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64"/>
          <p:cNvSpPr txBox="1"/>
          <p:nvPr>
            <p:ph idx="1" type="subTitle"/>
          </p:nvPr>
        </p:nvSpPr>
        <p:spPr>
          <a:xfrm>
            <a:off x="228600" y="13657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/>
              <a:t>Thank you!</a:t>
            </a:r>
            <a:endParaRPr sz="1500"/>
          </a:p>
        </p:txBody>
      </p:sp>
      <p:sp>
        <p:nvSpPr>
          <p:cNvPr id="993" name="Google Shape;993;p6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